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开场白：今天向大家汇报一篇刚完成投稿的 Communications Earth &amp; Environment 论文。题目是面向破碎山地县域的可复现模型驱动 AI 规划管线。工作历时 5 轮 nature-reviewer 修改，前两天刚 submit-ready。我先用一两张幻灯片把政策背景讲清楚，然后再讲方法和结论，因为听众里同时有计算机背景和国土规划背景的同事，我尽量两边都照顾一下。我会保留 5 分钟左右给大家提问。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这一页是给计算机背景同事补政策语境。三张卡片说三件事：第一，国家有硬性任务，每年 1.5 亿亩立项指标；第二，GB/T 30600-2022 不是单指标，是连片度、坡度、连通度同时达标，百亩方阈值 6.67 ha 是后面所有目标函数的核心；第三，山地县地块数量是万级，万级动作空间下传统优化和 RL 都很尴尬。右边的嵌套示意把县 → 网格块 → 地块 → 百亩方四级关系画清楚。底部 take-home 直接给出 motivation：县规划员需要一个桌面就能跑的工具。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这一页交代为什么不是直接套已有方法。三列分别讲 RL、OR、通用世界模型的结构性短板。RL 训练 8 到 12 小时，1/4 还跑崩；这是我们院内 Centralised PPO / MARL 基线的真实数字。OR 在万级地块 + 组合代价下，30 秒预算只能完成十几次迭代。Dreamer 一类通用世界模型为像素观测设计，套到这种全可观测、低维特征任务上得不偿失。底部那行话是过渡：缺口在哪里，我们就在哪里量化。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三大贡献按泛化性递减排列：实证刻画 → 可证伪判据 → 可复现部署。这是 reviewer panel 五轮 review 之后跟我们达成的 framing 顺序。强调底部那行话：这不是一篇新算法论文，是 applied-science + reproducibility 的工作。讲到这里听众已经知道全文骨架，下面分别展开。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形式化：状态是 N 块 × 17 维特征向量；动作是合法 swap mask 内挑一对 farm-forest 换位；奖励是四个目标加权和；100 步 episode。强调三件事：一是完全可观测、低维特征，所以不学表征也不用 RSSM；二是动作空间在万级 swap pair 量级；三是 episode 短但每步都要重新计算连片度和 baimu fang，单步代价 17.9 ms，这个数字在后面 simulator-cost 判据那张图会再出现。右边那条 MPC 闭环就是后面所有结果跑出来的同一根管子。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这页是方法核心。等式只有两行：总损失 = MSE + λ × pairwise margin。pairwise 项很标准，是 1990s ranking SVM / 2005 RankNet 那一类。我们的发现是：当 σ_a/σ_s ≈ 0.6——也就是同状态不同动作之间的奖励差远小于不同状态之间的差——MSE 会把训练信号都花在 across-state，within-state 完全失败。失败到什么程度？同状态选最优动作的 pairwise 准确率 51.6%，跟随机猜一样。加一项 pairwise margin、λ=5，准确率涨到 85.5%；更关键的是 MPC 从最差变体变成最佳变体——这才是判据的运营意义。口头补充：margin m=0.1 是 σ(r_true) 的 1/8，0.05/0.1/0.2 sweep 在 ±1.5 pp 平台上，不敏感。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这是论文的 Fig. 1a，也是组会上最有展示价值的一张。横轴是 100 步规划进度，纵轴是当前坡度相对初始的下降百分点。粗蓝线是 5 个独立训练 ensemble 的均值轨迹，浅色带是 5 ep 包络。两条虚线分别是 Centralised PPO 和 Multi-Agent RL 院内基线。右侧 rail 给出头条数字 −1.289 ± 0.079%，对 PPO p=0.034 d=−1.90，对 MARL p&lt;10⁻⁴ d=−5.07，效应量都是 very large。口头补充：图上 −2.04% 和 −2.001% 是 regime B/C 的端点，属于另外两套 reconciliation，这页只 quote regime A 的 −1.289%——三个数字之间的关系下页详谈。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这页是 reviewer 1 给的 P0 修复。原稿同时引用 −1.289、−1.544、−2.001 三个数字，reviewer 觉得在「同一个县同一个方法」上数字不统一不专业。我们的回应是：这三个数字不是 cherry pick，是三套不同 protocol 的内部一致结果。行间口述清楚 ensemble 轴、episode 轴、数据管线轴。尤其 regime C 是 GIS-only 独立重算，不调 ensemble，所以那个 −2.001% 是磁盘上 cadastre 几何的属性，等于一条 sanity check 链。这页 PPT 听众一过即可，不必念完所有数字。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右半幅 hero。讲两件事：一是 swap 总量小、动作集中——852 对 paired swap 在 5 万级地块里只占 ~1.6%；二是空间形态「贴着碎片边界走」，这跟县规划员手工拉图斑的直觉一致，是这套方法可被审批接受的重要属性。口头补充：如果听众里有 GIS 同事，可以指出红绿配对一一相等（426 对 426），这是 reward 设计里耕地总量守恒带来的硬约束，不是巧合。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跨县复现是 reviewer P1 直接要的证据：「你只在一座山区县跑得通，凭什么说方法对中国西南山地都成立？」我们的回应是把整套管线在东兴 76,376 地块上重跑。数字 −0.50% 比璧山小，不是因为方法弱，而是东兴本身坡度基线低、可降低的 headroom 小。qualitative 落点没变：contrastive MPC 仍稳定低于 PPO 和 MARL。另外 5 seeds × 1 ep 的方差只有 ±0.02 pp，是 RL 基线的若干倍小——deployment 上很关键，因为 RL 跨 seed 的高方差让规划员根本拿不出一个稳定的 baseline。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这页是 falsifiability 的关键证据。判据有两种破法：一种是它在 farmland 上 false negative（说不该用、实测该用），另一种是在 restoration 上 false positive（说不该用 contrastive、实测contrastive 有显著提升）。我们要的是判据「在它说不需要的地方实测确实不需要」。Buchanan 是公开美国数据的 restoration 案例，σ_a/σ_s 在 5-7 的高区间。判据预测：MSE-only 自带 ranking 信号，contrastive 没 headroom。实测：TOST 等价检验 Δ=±0.5 reward (~0.22% of mean), p=0.008，MSE-only 与 contrastive 在统计上等价。这是判据可证伪性的落地证据。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判据 1 的两点观测：farmland 0.6 → 需要 contrastive；restoration 5-7 → 不需要。目前只有两个数据点，连续 sweep σ_a/σ_s ∈ [0.6, 7] 是开放问题，discussion 里我们写得很明白这是局限。口头补充：如果听众里有理论同事，他们可能会问「这个比值跟 advantage function 的方差分解有关系吗？」答案是有，结构上类似 dueling DQN 的 advantage / value 分解，但我们没在论文里细推这一层，留给后续工作。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判据 2 是 simulator step cost。机制是：SA 每次迭代都要把整个 episode 重 roll 一遍，step 越贵，30 秒预算下能完成的迭代越少；100 次以下迭代 SA 根本不收敛。我们把 SA 单步代价从 5 微秒人为注射到 100 ms 做 sweep，在 ≥ 30 ms 的区域 MPC 一致占优。Bishan 实测 17.9 ms/step——表面看在阈值下面——但 reward 同时含组合代价交互（baimu fang 的连片度耦合），两个条件叠加把它推进 advantage zone。180 s 等预算下 contrastive MPC reward 86.74，SA reward 9.04，9.6× 差距。口头务必强调：30 ms 阈值跨域外推到 hydrology / power-grid 等其他物理仿真域，目前只是 testable hypothesis，不是已证实结论——下页专门讲这一点。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落地数字。最重要的一行是第三行：Contrastive MPC 在 12-thread CPU 桌面上，训练 25 分钟、每个方案 7 分钟，跨权重不重训，5 seeds 0 失败。对县规划员的实际意义：一个工作日内能扫数十种权重组合，scenario exploration 从奢侈品变日常工具。另一句要强调：形态学 trade-off 本身就是规划信息——方案怎么走严重依赖地形，所以 scenario 探索不是 nice-to-have，是必需。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工具链 5 件套：Tool 1-3 是一次性的数据准备 / 样本采样 / 训练；Tool 4 是规划员反复跑的 100 步规划，7 分钟一次。Tool 5 是 dashed guard-rail，在任何 pipeline 调用前先把 Python 环境、Spatial Analyst、ONNX shape 校验掉，因为这套东西部署在县级电脑上最常见的失败不是模型，是环境。下面两条部署面：ArcGIS 原生集成是给已经在用 ArcGIS Pro 的规划员；QGIS Processing 插件是给非商业 / 跨平台用户。插件是这一轮新加的——之前 reviewer 4 提到「ArcGIS 是商业软件，开源审稿同行如何复现」。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4 层验证。这一页应对 reviewer 1 / 3 来回交锋的所有「会不会是…造成的」质疑。第一层是 GIS-only 独立重算——结果是磁盘上几何的属性，与学习模型无关。第二层很有意思：ensemble 作为 regressor 误标定（MAE 比 σ 还小），但作为 ranker 表现好——这正是 ranking-vs-regression 分解的实证证据，也是为什么 contrastive 在 farmland 上能起作用的机制层面解释。第三层 true-env 反事实是最强的一条：完全不用 ensemble，用真实仿真器进 scoring loop，结果反而更差且时间更长，因为没有了 batched ONNX 的并行 scoring。第四层跨县复现已经在 slide 10 讲过。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这页非常重要，是审慎的措辞。判据只在 farmland + restoration 两个域上校准过。外推到 watershed restoration、power-grid maintenance、化学反应、供应链——全部都是 testable hypothesis，没有在那些域上做过实验。我们在论文 §Discussion 用 conjecture 措辞，组会上也用同样口径。口头补充：这种自律是 reviewer panel 五轮里来回最敏感的一点，因为我们不希望读者把「30 ms 阈值是地球科学普适规律」当成结论带走。推测的价值是给这些域的同行一个具体可证伪的实验入口。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四条局限。前面已经分别讲过，这页做集中陈述。L1 地理：只两个西南山地县；L2 判据双点：连续 sweep 还在 to-do；L3 snapshot/restore：方法学的硬依赖，replay-buffer 替代是开放问题；L4 跨域：还是推测。Reviewer 对显式陈述局限正面——applied-science 的可信度恰恰来自不掩饰边界。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这页是判据的实操化——给打算把这套管线挪到自己问题上的人一个 30 分钟可以跑完的诊断。Q1 测 σ_a/σ_s：随机抓状态、每个状态枚举 K 个动作、比 within / between std；Q2 测 step cost：真实 env 跑 5 步 probe。右侧的决策树两层：外层 step cost 决定要不要学代理模型；内层 σ_a/σ_s 决定要不要加 contrastive。本文两个真实落点：Bishan 双 yes，Buchanan 双 no。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复现性 6 张卡片。这一页主要是给将来想用这套管线的同事一个 inventory。强调三件事：一是 7 预设合成 benchmark CC-BY 4.0，bishan_clone / neijiang_clone 锚定真实县，另外 5 个是 morphology stress test；二是 70 秒 smoke test 在 Tool 5 之上还多一层 end-to-end 检查；三是分发通道已经上线 ghcr.io 镜像和 Baidu Pan offline pack——国内同事直接拉镜像就行。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三个直接 follow-up。F1 是最可控的——补 σ_a/σ_s sweep，给规划员一个 a-priori 决策曲线；F2 是把跨域 conjecture 真正落到一个具体案例上，把 testable hypothesis 变成 testable result；F3 是部署侧的两条延展。底部那行话：组会场合可以邀请其他课题组合作，特别是水文 / 电网方向的同事。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结尾收束：这不是新算法论文，是 applied-science + reproducibility。三个数字带走：Bishan -1.289%、vs SA 9.6× reward gap、wall time 约两个数量级提速。投稿状态、GitHub、镜像渠道全在这一页。感谢、Q&amp;A。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E6FB0"/>
                </a:solidFill>
                <a:latin typeface="Microsoft YaHei"/>
                <a:ea typeface="Microsoft YaHei"/>
              </a:rPr>
              <a:t>Communications Earth &amp; Environment 投稿  ·  组会汇报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194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F3A5F"/>
                </a:solidFill>
                <a:latin typeface="Microsoft YaHei"/>
                <a:ea typeface="Microsoft YaHei"/>
              </a:rPr>
              <a:t>面向破碎山地县域高标准农田整治的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1F3A5F"/>
                </a:solidFill>
                <a:latin typeface="Microsoft YaHei"/>
                <a:ea typeface="Microsoft YaHei"/>
              </a:rPr>
              <a:t>可复现 · 模型驱动 AI 规划管线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666666"/>
                </a:solidFill>
                <a:latin typeface="Calibri"/>
                <a:ea typeface="Microsoft YaHei"/>
              </a:rPr>
              <a:t>Reproducible model-based AI planning for county-scale farmland</a:t>
            </a:r>
          </a:p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  <a:ea typeface="Microsoft YaHei"/>
              </a:rPr>
              <a:t>consolidation in fragmented mountain landscapes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2336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333"/>
                </a:solidFill>
                <a:latin typeface="Microsoft YaHei"/>
                <a:ea typeface="Microsoft YaHei"/>
              </a:rPr>
              <a:t>周宁  ·  景翔（导师）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666666"/>
                </a:solidFill>
                <a:latin typeface="Microsoft YaHei"/>
                <a:ea typeface="Microsoft YaHei"/>
              </a:rPr>
              <a:t>超图软件  ·  北京大学软件与微电子学院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12080"/>
            <a:ext cx="10607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投稿期刊：Communications Earth &amp; Environment  (Nature Portfolio, IF 8.9)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状态：完成 5 轮 nature-reviewer 修改  ·  已 submit-ready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2E6FB0"/>
                </a:solidFill>
                <a:latin typeface="Calibri"/>
                <a:ea typeface="Microsoft YaHei"/>
              </a:rPr>
              <a:t>GitHub：github.com/zhouning/arcgis-farmland-mpc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Microsoft YaHei"/>
                <a:ea typeface="Microsoft YaHei"/>
              </a:rPr>
              <a:t>2026 / 05  ·  组会版本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为什么做这件事：高标准农田整治政策落到县域有硬约束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政策背景  ·  GB/T 30600-2022  ·  百亩方阈值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4360" y="1234440"/>
            <a:ext cx="73152" cy="15087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07592"/>
            <a:ext cx="6492240" cy="1362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国家任务  ·  到 2030 年完成 12 亿亩高标准农田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立项数量从 1.27 亿亩 / 年 涨到 1.5 亿亩 / 年；县级每年都要做地块层级的整治方案。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852928"/>
            <a:ext cx="73152" cy="15087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926080"/>
            <a:ext cx="6492240" cy="1362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规范上的硬阈值  ·  百亩方 ≥ 6.67 ha 同质连片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GB/T 30600-2022 明确：耕地图斑要按 baimu fang 连片度、坡度、连通度同时达标，不是单一指标。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4471416"/>
            <a:ext cx="73152" cy="150876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544568"/>
            <a:ext cx="6492240" cy="1362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山地破碎  ·  万级地块的多目标空间布局问题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璧山 52,515 块、东兴 76,376 块；坡度、连片、保护红线、面积配比互相冲突，县规划员每跑一种权重组合都要等几小时。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23444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Microsoft YaHei"/>
                <a:ea typeface="Microsoft YaHei"/>
              </a:rPr>
              <a:t>县  →  网格块  →  地块（DLTB）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91640"/>
            <a:ext cx="4023360" cy="237744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965960"/>
            <a:ext cx="32918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0" y="2240280"/>
            <a:ext cx="2560320" cy="123444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331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≥ 6.67 ha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icrosoft YaHei"/>
                <a:ea typeface="Microsoft YaHei"/>
              </a:rPr>
              <a:t>百亩方阈值  baimu fang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1605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</a:rPr>
              <a:t>外环：县 / 中环：网格块 / 内核：百亩方阈值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5F"/>
                </a:solidFill>
                <a:latin typeface="Microsoft YaHei"/>
                <a:ea typeface="Microsoft YaHei"/>
              </a:rPr>
              <a:t>Take-home：政策要求 → 多目标 → 万级动作空间。传统 OR 跑得动但僵硬，深度 RL 训练 8–12 小时还会崩——县规划员需要一个能在桌面上跑出来的工具。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Source：高标准农田建设通则 GB/T 30600-2022；本研究 §1 Introduction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现有方法在县域整治上各有结构性缺陷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RL 训练慢且不稳；OR 在万级地块 + 组合代价下退化；高保真物理仿真器不通用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280160"/>
            <a:ext cx="3611880" cy="5029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深度强化学习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36118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920240"/>
            <a:ext cx="3282696" cy="2926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训练 8–12 GPU-小时 / seed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约 1/4 实验跑崩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跨权重不能复用，得重训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部门桌面跑不动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280160"/>
            <a:ext cx="36118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1280160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经典 OR  (SA / MILP)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783080"/>
            <a:ext cx="36118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920240"/>
            <a:ext cx="3282696" cy="2926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小规模问题接近最优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奖励含组合交互项时退化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仿真器单步代价 ≥ 30 ms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  时 30 s 内只能跑十几步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55864" y="1280160"/>
            <a:ext cx="3611880" cy="50292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5864" y="1280160"/>
            <a:ext cx="36118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通用世界模型 / Dreamer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4" y="1783080"/>
            <a:ext cx="361188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920240"/>
            <a:ext cx="3282696" cy="2926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设计为像素观测 + 部分可观测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本任务是 17 维全可观测特征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不需要 RSSM 隐状态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套上去得不偿失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212080"/>
            <a:ext cx="11201400" cy="118872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85232"/>
            <a:ext cx="10698480" cy="1097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缺口：缺一个能在县规划员桌面 7 分钟内出方案、跨权重不重训、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且能讲清楚自己什么时候**不该**用的工具。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333333"/>
                </a:solidFill>
                <a:latin typeface="Microsoft YaHei"/>
                <a:ea typeface="Microsoft YaHei"/>
              </a:rPr>
              <a:t>→ 我们要做的，正是把缺口里的「什么时候用 / 什么时候不用」量化下来。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§1 Introduction；§2 Multi-objective consolidation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本文的三大贡献：实证刻画 + 可证伪判据 + 可复现部署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按 reviewer panel 指导的 framing 顺序，泛化性递减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280160"/>
            <a:ext cx="822960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10332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444752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实证刻画  Empirical characterisation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在 2 个真实中国县（璧山 52,515  ·  东兴 76,376）+ 1 个公开美国数据 restoration 案例（Buchanan VA, 562）上，刻画 learned-surrogate MPC 相对于 RL / OR 基线的优势区间。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822960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834640"/>
            <a:ext cx="10332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999232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可证伪两量判据  Falsifiable two-quantity criterion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σ_a/σ_s ≈ 0.6（农田）→ 需要对比排序损失；σ_a/σ_s ≈ 5–7（restoration）→ MSE 已够。仿真器单步代价 ≥ 30 ms 或奖励有组合交互 → 学习代理模型在 wall-budget 上占优。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822960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389120"/>
            <a:ext cx="10332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553712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可复现部署管道  Reproducible deployment pipeline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trained ensembles + 7 预设合成 benchmark (CC-BY 4.0) + Buchanan 案例（全 US 公开数据）+ ArcGIS Pro 工具箱 + 非商业 QGIS CLI / Processing 插件。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本文不是「新算法」论文：是把已有方法学翔实地实证刻画 + 给一个落地的 toolbox。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§1 Contribution；cover letter framing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任务形式化：万级动作 · 多目标 · 100 步 episode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完全可观测  ·  17 维块特征  ·  动作 = 选一对 farm↔forest 地块进行换位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234440"/>
            <a:ext cx="5669280" cy="493776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394960" cy="4754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  <a:ea typeface="Microsoft YaHei"/>
              </a:rPr>
              <a:t>状态  s_t  ∈  R^(N_blocks × 17)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  每块 17 维特征：耕地 / 林地面积、坡度统计、邻接、连片度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  <a:ea typeface="Microsoft YaHei"/>
              </a:rPr>
              <a:t>动作  a_t  ∈  {valid swaps under mask}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  在合法 swap mask 内挑一对 farm↔forest 地块换位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  <a:ea typeface="Microsoft YaHei"/>
              </a:rPr>
              <a:t>奖励  r_t  =  Σ wᵢ · Δobjectiveᵢ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  四目标加权：坡度下降 / 百亩方面积 / 连通度 / 面积配比惩罚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  <a:ea typeface="Microsoft YaHei"/>
              </a:rPr>
              <a:t>Episode  =  100 步  ·  γ  =  0.99  ·  episodic, MDP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  完全可观测，不学表征；不需要 RSSM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MPC 在线规划闭环（H = 5  ·  K = 50）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4937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65376"/>
            <a:ext cx="4663440" cy="4297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  <a:ea typeface="Microsoft YaHei"/>
              </a:rPr>
              <a:t>CountyLevelEnv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  <a:ea typeface="Microsoft YaHei"/>
              </a:rPr>
              <a:t>真实 / 合成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69680.0" y="2331720"/>
            <a:ext cx="0.0" cy="164592"/>
          </a:xfrm>
          <a:prstGeom prst="line">
            <a:avLst/>
          </a:prstGeom>
          <a:ln w="1524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0" y="2496312"/>
            <a:ext cx="4937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532888"/>
            <a:ext cx="4663440" cy="4297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  <a:ea typeface="Microsoft YaHei"/>
              </a:rPr>
              <a:t>Block features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  <a:ea typeface="Microsoft YaHei"/>
              </a:rPr>
              <a:t>17-dim × 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0.0" y="2999232"/>
            <a:ext cx="0.0" cy="164592"/>
          </a:xfrm>
          <a:prstGeom prst="line">
            <a:avLst/>
          </a:prstGeom>
          <a:ln w="1524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0800" y="3163824"/>
            <a:ext cx="4937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200400"/>
            <a:ext cx="4663440" cy="4297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  <a:ea typeface="Microsoft YaHei"/>
              </a:rPr>
              <a:t>Contrastive ensemble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  <a:ea typeface="Microsoft YaHei"/>
              </a:rPr>
              <a:t>ONNX, 3 members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869680.0" y="3666744"/>
            <a:ext cx="0.0" cy="164592"/>
          </a:xfrm>
          <a:prstGeom prst="line">
            <a:avLst/>
          </a:prstGeom>
          <a:ln w="1524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0" y="3831336"/>
            <a:ext cx="4937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867912"/>
            <a:ext cx="4663440" cy="4297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  <a:ea typeface="Microsoft YaHei"/>
              </a:rPr>
              <a:t>H=5 lookahead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  <a:ea typeface="Microsoft YaHei"/>
              </a:rPr>
              <a:t>K=50 candidates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.0" y="4334256"/>
            <a:ext cx="0.0" cy="164592"/>
          </a:xfrm>
          <a:prstGeom prst="line">
            <a:avLst/>
          </a:prstGeom>
          <a:ln w="1524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0" y="4498848"/>
            <a:ext cx="49377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535424"/>
            <a:ext cx="4663440" cy="4297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3A5F"/>
                </a:solidFill>
                <a:latin typeface="Calibri"/>
                <a:ea typeface="Microsoft YaHei"/>
              </a:rPr>
              <a:t>commit best swap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  <a:ea typeface="Microsoft YaHei"/>
              </a:rPr>
              <a:t>回到 env.step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035040" y="4750308.0"/>
            <a:ext cx="365760" cy="0.0"/>
          </a:xfrm>
          <a:prstGeom prst="line">
            <a:avLst/>
          </a:prstGeom>
          <a:ln w="1905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§2 Problem; Methods §Action 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方法关键设计：在 MSE 训练上加一项 pairwise margin 排序损失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MSE 让代理模型「平均像」，但同一状态下选最优动作要的是 ranking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188720"/>
            <a:ext cx="11201400" cy="13716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527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  <a:ea typeface="Microsoft YaHei"/>
              </a:rPr>
              <a:t>L_total  =  L_MSE(s, a)  +  λ_rank · L_pair(s, a⁺, a⁻)</a:t>
            </a:r>
          </a:p>
          <a:p>
            <a:pPr algn="ctr">
              <a:spcAft>
                <a:spcPts val="200"/>
              </a:spcAft>
            </a:pPr>
            <a:r>
              <a:rPr sz="1400" b="0" i="0">
                <a:solidFill>
                  <a:srgbClr val="333333"/>
                </a:solidFill>
                <a:latin typeface="Calibri"/>
                <a:ea typeface="Microsoft YaHei"/>
              </a:rPr>
              <a:t>L_pair  =  max( 0,  m  −  ( ŕ(s, a⁺)  −  ŕ(s, a⁻) ) )      m = 0.1  ·  λ_rank ∈ {0, 1, 5}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54864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743200"/>
            <a:ext cx="548640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为什么 MSE-only 不行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80"/>
            <a:ext cx="5120640" cy="2606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σ_a / σ_s ≈ 0.6（农田）：动作内方差远小于状态间方差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MSE 把训练信号都花在 across-state 上，within-state 排序坍塌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02A2A"/>
                </a:solidFill>
                <a:latin typeface="Microsoft YaHei"/>
                <a:ea typeface="Microsoft YaHei"/>
              </a:rPr>
              <a:t>•  Pairwise rank accuracy：51.6%  ≈  随机猜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Cosine 相似度  ≥ 0.999：「平均像」但不知道哪个动作最优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743200"/>
            <a:ext cx="548640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743200"/>
            <a:ext cx="5486400" cy="5029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74320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λ_rank = 5 之后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383280"/>
            <a:ext cx="5120640" cy="2606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2E7D32"/>
                </a:solidFill>
                <a:latin typeface="Microsoft YaHei"/>
                <a:ea typeface="Microsoft YaHei"/>
              </a:rPr>
              <a:t>•  Pairwise rank accuracy：51.6 %  →  85.5 %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Cosine 几乎不变（仍 ≥ 0.999）</a:t>
            </a: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•  MPC 从「最差变体」变成「最佳变体」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•  Margin m=0.1 ≈ 1/8 σ(r_true)：sweep 内 ±1.5 pp 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Take-home：算法上是已知的 learning-to-rank 思路；本文的贡献是定位它在空间规划里的隐性失效区，不是发明排序损失。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§3 Diagnosing ranking failure；Methods §Contrastive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璧山结果：5 个独立训练 ensemble 收敛带稳定低于两条 RL 基线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5 个独立 ensemble × 1 episode  ·  52,515 地块  ·  100 步规划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ishan_tra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6011"/>
            <a:ext cx="7680960" cy="41974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188720"/>
            <a:ext cx="3291840" cy="4572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32588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头条指标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69164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F3A5F"/>
                </a:solidFill>
                <a:latin typeface="Calibri"/>
                <a:ea typeface="Microsoft YaHei"/>
              </a:rPr>
              <a:t>− 1.289 %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468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  <a:ea typeface="Microsoft YaHei"/>
              </a:rPr>
              <a:t>± 0.079  pp（5 ensemble × 1 ep）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95360" y="2926080"/>
            <a:ext cx="29260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95360" y="3017520"/>
            <a:ext cx="3017520" cy="2651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对比基线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  <a:ea typeface="Microsoft YaHei"/>
              </a:rPr>
              <a:t>Centralised PPO     − 0.79 %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  <a:ea typeface="Microsoft YaHei"/>
              </a:rPr>
              <a:t>Multi-Agent RL        − 0.81 %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  <a:ea typeface="Microsoft YaHei"/>
              </a:rPr>
              <a:t>幅度  1.6×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  <a:ea typeface="Microsoft YaHei"/>
              </a:rPr>
              <a:t>vs PPO   p = 0.034   d = −1.90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  <a:ea typeface="Microsoft YaHei"/>
              </a:rPr>
              <a:t>vs MARL  p &lt; 10⁻⁴   d = −5.07</a:t>
            </a:r>
          </a:p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666666"/>
                </a:solidFill>
                <a:latin typeface="Microsoft YaHei"/>
                <a:ea typeface="Microsoft YaHei"/>
              </a:rPr>
              <a:t>（Welch's t-test，5 seeds）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989320"/>
            <a:ext cx="11247120" cy="457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35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5 个独立训练的 ensemble 收敛带在每一步都稳定低于两条 RL 基线，幅度 1.6× 且效应量 very large（|d| &gt; 1.9）。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Source：Fig. 1a, 本研究；regime A 头条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三个璧山数字的对账：跨 regime 一致在 −1.3 至 −2.0 pp 区间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Reviewer 1 P0 修复  ·  跨 protocol × 数据管线轴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280160"/>
            <a:ext cx="112014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Regime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389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389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ensemble × episode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38988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数据管线 / parcels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1389888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用途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11201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47672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33333"/>
                </a:solidFill>
                <a:latin typeface="Microsoft YaHei"/>
                <a:ea typeface="Microsoft YaHei"/>
              </a:rPr>
              <a:t>A  头条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194767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  <a:ea typeface="Microsoft YaHei"/>
              </a:rPr>
              <a:t>−1.289 ± 0.079%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4767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5 ensembles × 1 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94767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research-side prepare / 52,515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1947672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main 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560320"/>
            <a:ext cx="11201400" cy="777240"/>
          </a:xfrm>
          <a:prstGeom prst="rect">
            <a:avLst/>
          </a:prstGeom>
          <a:solidFill>
            <a:srgbClr val="F5F2EC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24912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33333"/>
                </a:solidFill>
                <a:latin typeface="Microsoft YaHei"/>
                <a:ea typeface="Microsoft YaHei"/>
              </a:rPr>
              <a:t>B  toolchain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272491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  <a:ea typeface="Microsoft YaHei"/>
              </a:rPr>
              <a:t>−1.544 ± 0.041%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72491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1 shipped × 5 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2491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package-side prepare / 53,004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724912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工具链复现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37560"/>
            <a:ext cx="11201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02152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33333"/>
                </a:solidFill>
                <a:latin typeface="Microsoft YaHei"/>
                <a:ea typeface="Microsoft YaHei"/>
              </a:rPr>
              <a:t>C  GIS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50215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  <a:ea typeface="Microsoft YaHei"/>
              </a:rPr>
              <a:t>−2.001%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50215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1 shipped × 1 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350215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GIS-only 独立重算 / 53,086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3502152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图上端点核对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72000"/>
            <a:ext cx="11201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三个数字相互一致而非互斥，差异由两条 protocol 轴 + 一条数据管线轴造成：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ensemble 数量轴：A 用 5 个 lab-trained，B/C 用 1 个 shipped ONNX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episode 数量轴：A/C 各 1 ep，B 跑 5 ep 取均值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数据管线轴：research-side prepare（保留非方形像素，commit dc3a01c）vs package-side prepare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Regime C 是 GIS-only 独立脚本读 optimised cadastre 重算，不调 ensemble，因此是「on-disk geometry 的属性」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35040"/>
            <a:ext cx="11201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1F3A5F"/>
                </a:solidFill>
                <a:latin typeface="Microsoft YaHei"/>
                <a:ea typeface="Microsoft YaHei"/>
              </a:rPr>
              <a:t>Take-home：跨 3 个 regime 在 −1.3 至 −2.0 pp 一致带；deployment variance 本身就是有用信息。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§4 Three Bishan replication regimes；SI §S2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璧山规划方案的空间形态：852 对 swap 集中在地块碎片边界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episode 0  ·  shipped ensemble  ·  53,004 地块视角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ishan_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936" y="1188720"/>
            <a:ext cx="4611568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280160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swap 数量与方向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783080"/>
            <a:ext cx="5029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75120" y="1783080"/>
            <a:ext cx="164592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1837944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  <a:ea typeface="Microsoft YaHei"/>
              </a:rPr>
              <a:t>852   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对  paired swap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2560320"/>
            <a:ext cx="5029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2560320"/>
            <a:ext cx="164592" cy="64008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2615184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000" b="1" i="0">
                <a:solidFill>
                  <a:srgbClr val="B02A2A"/>
                </a:solidFill>
                <a:latin typeface="Calibri"/>
                <a:ea typeface="Microsoft YaHei"/>
              </a:rPr>
              <a:t>426   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farm → forest（红，弃坡）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337560"/>
            <a:ext cx="50292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3337560"/>
            <a:ext cx="164592" cy="6400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3392424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Calibri"/>
                <a:ea typeface="Microsoft YaHei"/>
              </a:rPr>
              <a:t>426    </a:t>
            </a: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forest → farm（绿，取地）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0624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形态学解读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swap 集中在「地块碎片边界」：以最少合格面积代价做最大坡度下降。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100,805 个地块未变动——规划方案不是「全县翻一遍」，而是局部、可解释、易于审批。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Source：Fig. 1b, 本研究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跨县复现：东兴 76,376 地块上数字与 PPO/MARL 同区间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1.4× 规模 + 不同地形形态  ·  qualitative 结论保留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188720"/>
            <a:ext cx="5120640" cy="493776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846320" cy="4754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F3A5F"/>
                </a:solidFill>
                <a:latin typeface="Microsoft YaHei"/>
                <a:ea typeface="Microsoft YaHei"/>
              </a:rPr>
              <a:t>东兴县（四川内江）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  <a:ea typeface="Microsoft YaHei"/>
              </a:rPr>
              <a:t>76,376 地块  ·  规模  1.4 × 璧山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</a:rPr>
              <a:t>丘陵地貌  ·  耕地碎片化模式与璧山不同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—  设计意图  —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</a:rPr>
              <a:t>测试 contrastive MPC 跨县是否仍占优；</a:t>
            </a:r>
          </a:p>
          <a:p>
            <a:pPr algn="l">
              <a:spcAft>
                <a:spcPts val="120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</a:rPr>
              <a:t>即「论文不是只在一座山区县上跑得通」。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—  重跑协议  —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  <a:ea typeface="Microsoft YaHei"/>
              </a:rPr>
              <a:t>5 个独立 seed  ·  1 episode each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</a:rPr>
              <a:t>shipped ONNX ensemble + 同一份 reward 权重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188720"/>
            <a:ext cx="576072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Dongxing 头条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 i="0">
                <a:solidFill>
                  <a:srgbClr val="1F3A5F"/>
                </a:solidFill>
                <a:latin typeface="Calibri"/>
                <a:ea typeface="Microsoft YaHei"/>
              </a:rPr>
              <a:t>− 0.50 %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6974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Calibri"/>
                <a:ea typeface="Microsoft YaHei"/>
              </a:rPr>
              <a:t>± 0.02 pp（5 seeds）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3640" y="3200400"/>
            <a:ext cx="52120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3640" y="3291840"/>
            <a:ext cx="5212080" cy="2651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为何幅度比璧山小：东兴坡度本身基线低，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可下降的 headroom 自然小，不是方法弱。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qualitative 落点不变：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contrastive MPC 仍稳定低于 PPO/MARL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跨 seed 方差是 RL 基线的若干倍小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•  cross-county 复现是 reviewer P1 直接要的证据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1F3A5F"/>
                </a:solidFill>
                <a:latin typeface="Microsoft YaHei"/>
                <a:ea typeface="Microsoft YaHei"/>
              </a:rPr>
              <a:t>Take-home：方法在不同县上的 qualitative ordering 一致；headroom 不同，「方法不是只在璧山过拟合」。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§4 Cross-county replication；SI 重跑表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跨域验证 (Buchanan VA, restoration)：MSE-only 与 contrastive 等价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公开美国数据  ·  562 planning units  ·  TOST 等价  Δ = ± 0.5 reward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restoration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87" y="1143000"/>
            <a:ext cx="7298626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143000"/>
            <a:ext cx="3291840" cy="393192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7072" y="1280160"/>
            <a:ext cx="2962656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判据落地证据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7072" y="1645920"/>
            <a:ext cx="2962656" cy="33832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Calibri"/>
                <a:ea typeface="Microsoft YaHei"/>
              </a:rPr>
              <a:t>σ_a / σ_s  ≈  5 – 7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（与农田 0.6 相反）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→  MSE 自带 ranking 信号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TOST 等价测试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  <a:ea typeface="Microsoft YaHei"/>
              </a:rPr>
              <a:t>Δ = ±0.5 reward  (~0.22% of mean)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  <a:ea typeface="Microsoft YaHei"/>
              </a:rPr>
              <a:t>p = 0.008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5F"/>
                </a:solidFill>
                <a:latin typeface="Microsoft YaHei"/>
                <a:ea typeface="Microsoft YaHei"/>
              </a:rPr>
              <a:t>Pairwise rank acc.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  <a:ea typeface="Microsoft YaHei"/>
              </a:rPr>
              <a:t>MSE-only  60.2%  ←  fresh retrain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  <a:ea typeface="Microsoft YaHei"/>
              </a:rPr>
              <a:t>contrastive  ≈  同等水平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166360"/>
            <a:ext cx="11247120" cy="96012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85232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判据预测：σ_a/σ_s 大 → contrastive 没 headroom 可以提供。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</a:rPr>
              <a:t>现象观测：在 Buchanan 上 MSE-only 与 contrastive 在 TOST 意义下统计等价。</a:t>
            </a:r>
          </a:p>
          <a:p>
            <a:pPr algn="l">
              <a:spcAft>
                <a:spcPts val="200"/>
              </a:spcAft>
            </a:pPr>
            <a:r>
              <a:rPr sz="1250" b="0" i="1">
                <a:solidFill>
                  <a:srgbClr val="333333"/>
                </a:solidFill>
                <a:latin typeface="Microsoft YaHei"/>
                <a:ea typeface="Microsoft YaHei"/>
              </a:rPr>
              <a:t>结论：判据有可证伪性 — 它在 restoration 这个 σ_a/σ_s 高的域上预测「不需要」，实测也确实「不需要」。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Source：Fig. 2 a/b/c, 本研究  ·  §5 Cross-domain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可证伪判据  ·  量 1：σ_a/σ_s 决定要不要 contrastive 排序损失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动作内方差 / 状态间方差比  ·  目前两点观测，连续 sweep 仍 open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188720"/>
            <a:ext cx="11201400" cy="9144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  <a:ea typeface="Microsoft YaHei"/>
              </a:rPr>
              <a:t>σ_a / σ_s  =  E_s [ Std_a r(s, a) ]  /  Std_s [ E_a r(s, a) ]</a:t>
            </a:r>
          </a:p>
          <a:p>
            <a:pPr algn="ctr">
              <a:spcAft>
                <a:spcPts val="200"/>
              </a:spcAft>
            </a:pPr>
            <a:r>
              <a:rPr sz="1100" b="0" i="1">
                <a:solidFill>
                  <a:srgbClr val="666666"/>
                </a:solidFill>
                <a:latin typeface="Microsoft YaHei"/>
                <a:ea typeface="Microsoft YaHei"/>
              </a:rPr>
              <a:t>动作内方差（在同一状态下不同动作的差异） ÷ 状态间方差（不同状态平均奖励的差异）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54864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548640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Farmland（璧山）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  <a:ea typeface="Microsoft YaHei"/>
              </a:rPr>
              <a:t>σ_a / σ_s  ≈  0.6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B02A2A"/>
                </a:solidFill>
                <a:latin typeface="Microsoft YaHei"/>
                <a:ea typeface="Microsoft YaHei"/>
              </a:rPr>
              <a:t>MSE 训练失败：rank acc 51.6 %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E7D32"/>
                </a:solidFill>
                <a:latin typeface="Microsoft YaHei"/>
                <a:ea typeface="Microsoft YaHei"/>
              </a:rPr>
              <a:t>加 contrastive (λ=5)：85.5 %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判据预测：需要 contrastive 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331720"/>
            <a:ext cx="54864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331720"/>
            <a:ext cx="5486400" cy="5029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33172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Restoration（Buchanan + 合成）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7180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  <a:ea typeface="Microsoft YaHei"/>
              </a:rPr>
              <a:t>σ_a / σ_s  ≈  5 – 7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MSE-only 已能排好序</a:t>
            </a:r>
          </a:p>
          <a:p>
            <a:pPr algn="l">
              <a:spcAft>
                <a:spcPts val="1000"/>
              </a:spcAft>
            </a:pPr>
            <a:r>
              <a:rPr sz="1250" b="0" i="0">
                <a:solidFill>
                  <a:srgbClr val="2E7D32"/>
                </a:solidFill>
                <a:latin typeface="Microsoft YaHei"/>
                <a:ea typeface="Microsoft YaHei"/>
              </a:rPr>
              <a:t>contrastive 与 MSE-only 等价（TOST p = 0.008）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判据预测：不需要 contrastive  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80760"/>
            <a:ext cx="11247120" cy="4572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126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1">
                <a:solidFill>
                  <a:srgbClr val="666666"/>
                </a:solidFill>
                <a:latin typeface="Microsoft YaHei"/>
                <a:ea typeface="Microsoft YaHei"/>
              </a:rPr>
              <a:t>局限（必须如实陈述）：目前只有两个数据点  ·  连续 sweep σ_a/σ_s ∈ [0.6, 7] 仍 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§3 Diagnosis；§5 Cross-domain；§Discussion Bounds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可证伪判据  ·  量 2：仿真器单步代价 ≥ 30 ms 决定 MPC 是否值得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10 个 (case × reward-profile) 单元格  ·  匹配 wall-budget 下与 SA 直接对比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im_cost_cross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226" y="1143000"/>
            <a:ext cx="9424507" cy="4206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548640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5486400"/>
            <a:ext cx="146304" cy="868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778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  <a:ea typeface="Microsoft YaHei"/>
              </a:rPr>
              <a:t>17.9 ± 0.3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ms / step  Bishan 实测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548640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5486400"/>
            <a:ext cx="146304" cy="8686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55778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E6FB0"/>
                </a:solidFill>
                <a:latin typeface="Calibri"/>
                <a:ea typeface="Microsoft YaHei"/>
              </a:rPr>
              <a:t>≥ 30 ms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MPC 优势区阈值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548640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5486400"/>
            <a:ext cx="146304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55778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D97706"/>
                </a:solidFill>
                <a:latin typeface="Calibri"/>
                <a:ea typeface="Microsoft YaHei"/>
              </a:rPr>
              <a:t>9.6 ×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180 s 等预算下 reward 倍数（vs SA）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548640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5486400"/>
            <a:ext cx="146304" cy="86868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557784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33333"/>
                </a:solidFill>
                <a:latin typeface="Calibri"/>
                <a:ea typeface="Microsoft YaHei"/>
              </a:rPr>
              <a:t>86.74 vs 9.04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contrastive MPC vs SA on Bishan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Source：Fig. 3, 本研究 §6 Simulator step cost as dominant predictor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运营落地：8–12 GPU-小时  →  桌面 25 min 训练 + 7 min / 方案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约两个数量级提速  ·  跨权重不重训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280160"/>
            <a:ext cx="1120140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89888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389888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训练 / 单方案 wall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3898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硬件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389888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跨权重重用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04120" y="1389888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失败率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11201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8424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Centralised PPO / MARL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98424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8–12 GPU-小时 /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98424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GPU 节点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8424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需重训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198424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≈ 1/4 跑崩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51760"/>
            <a:ext cx="11201400" cy="868680"/>
          </a:xfrm>
          <a:prstGeom prst="rect">
            <a:avLst/>
          </a:prstGeom>
          <a:solidFill>
            <a:srgbClr val="F5F2EC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5292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经典 OR (SA / MILP)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85292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30 s 内仅完成 10–100 次迭代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85292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12-thread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85292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每次重跑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285292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不收敛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20440"/>
            <a:ext cx="11201400" cy="868680"/>
          </a:xfrm>
          <a:prstGeom prst="rect">
            <a:avLst/>
          </a:prstGeom>
          <a:solidFill>
            <a:srgbClr val="EAF2FB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721608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5F"/>
                </a:solidFill>
                <a:latin typeface="Microsoft YaHei"/>
                <a:ea typeface="Microsoft YaHei"/>
              </a:rPr>
              <a:t>Contrastive MPC（本工作）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72160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5F"/>
                </a:solidFill>
                <a:latin typeface="Microsoft YaHei"/>
                <a:ea typeface="Microsoft YaHei"/>
              </a:rPr>
              <a:t>25 min 训练  +  ≈ 7 min / 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721608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5F"/>
                </a:solidFill>
                <a:latin typeface="Microsoft YaHei"/>
                <a:ea typeface="Microsoft YaHei"/>
              </a:rPr>
              <a:t>12-thread CPU 桌面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721608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5F"/>
                </a:solidFill>
                <a:latin typeface="Microsoft YaHei"/>
                <a:ea typeface="Microsoft YaHei"/>
              </a:rPr>
              <a:t>scoring 直接换权重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721608"/>
            <a:ext cx="150876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3A5F"/>
                </a:solidFill>
                <a:latin typeface="Microsoft YaHei"/>
                <a:ea typeface="Microsoft YaHei"/>
              </a:rPr>
              <a:t>0 / 5 seeds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754880"/>
            <a:ext cx="11201400" cy="146304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46320"/>
            <a:ext cx="10652760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对县规划员意味着什么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</a:rPr>
              <a:t>•  一个工作日内可以扫数十种权重 / 乡镇 sub-budget / 红线约束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</a:rPr>
              <a:t>•  scenario 探索从「奢侈品」变成「日常工具」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</a:rPr>
              <a:t>•  形态学 trade-off 本身就是一手有用信息——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   方案的形态强烈依赖地形，scenario exploration 不是 nice-to-have，是必需的。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§Discussion What the pipeline delivers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部署工具链：4 + 1 个 ArcGIS Pro 工具，QGIS 插件已对等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县规划员桌面跑得动  ·  Tools 1–3 一次性，Tool 4 反复迭代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280160"/>
            <a:ext cx="2423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423160" cy="5029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Tool 1  </a:t>
            </a: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数据准备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20240"/>
            <a:ext cx="2093976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从 DLTB / DEM 计算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17 维块特征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194560.0"/>
            <a:ext cx="274320" cy="0.0"/>
          </a:xfrm>
          <a:prstGeom prst="line">
            <a:avLst/>
          </a:prstGeom>
          <a:ln w="1905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00400" y="1280160"/>
            <a:ext cx="2423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280160"/>
            <a:ext cx="2423160" cy="5029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325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Tool 2  </a:t>
            </a: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样本采样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920240"/>
            <a:ext cx="2093976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snapshot/restore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抽 50,000 (s,a,r)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23560" y="2194560.0"/>
            <a:ext cx="274320" cy="0.0"/>
          </a:xfrm>
          <a:prstGeom prst="line">
            <a:avLst/>
          </a:prstGeom>
          <a:ln w="1905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897880" y="1280160"/>
            <a:ext cx="2423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280160"/>
            <a:ext cx="2423160" cy="5029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7880" y="1325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Tool 3  </a:t>
            </a: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对比训练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920240"/>
            <a:ext cx="2093976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λ_rank=5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导出 ONNX ensemble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1040" y="2194560.0"/>
            <a:ext cx="274320" cy="0.0"/>
          </a:xfrm>
          <a:prstGeom prst="line">
            <a:avLst/>
          </a:prstGeom>
          <a:ln w="1905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595360" y="1280160"/>
            <a:ext cx="24231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2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1280160"/>
            <a:ext cx="2423160" cy="5029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32588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  <a:ea typeface="Microsoft YaHei"/>
              </a:rPr>
              <a:t>Tool 4  </a:t>
            </a: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迭代规划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1920240"/>
            <a:ext cx="2093976" cy="10515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100 步 episode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≈ 7 min / 方案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83280"/>
            <a:ext cx="11201400" cy="822960"/>
          </a:xfrm>
          <a:prstGeom prst="rect">
            <a:avLst/>
          </a:prstGeom>
          <a:solidFill>
            <a:srgbClr val="F5F2EC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520440"/>
            <a:ext cx="10835640" cy="5486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Tool 5  ·  Guard-rail（dashed）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在任何 pipeline 调用前先校验 Python 环境、Spatial Analyst 可用性、ONNX shape 兼容性。失败优雅退出而不是中途崩。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34840"/>
            <a:ext cx="11201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面向规划员的两条对等部署面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846320"/>
            <a:ext cx="54864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4846320"/>
            <a:ext cx="5486400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463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ArcGIS Pro Python Toolbox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4924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•  原生集成进 ArcGIS Pro 主界面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•  规划员熟悉的工具箱体验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•  Spatial Analyst 自动校验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846320"/>
            <a:ext cx="54864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846320"/>
            <a:ext cx="54864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84632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QGIS Processing 插件 + CLI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534924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•  非商业、跨平台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•  Processing 框架与 ArcGIS 工具箱体验对等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Microsoft YaHei"/>
                <a:ea typeface="Microsoft YaHei"/>
              </a:rPr>
              <a:t>•  CLI 支持 CI / 批处理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Source：Fig. 4 (toolchain)；§7 ArcGIS Pro toolchain；本轮新增 QGIS Processing 插件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为什么可信：4 层独立验证彼此交叉支撑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Reviewer 1 &amp; 3 panel 反复交锋  ·  每一层都不依赖前一层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188720"/>
            <a:ext cx="77724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1188720"/>
            <a:ext cx="104241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1325880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GIS-only 独立重算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从 optimised cadastre shapefile 直接重算 slope / contiguity / baimu fang，不调 ensemble。重现 floating-point 噪声内一致 → 「磁盘上几何的属性」。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96312"/>
            <a:ext cx="77724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62072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2496312"/>
            <a:ext cx="104241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633472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Ensemble 单步预测误差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MAE 0.82 vs σ(r_true)=1.40，作为 regressor 是误标定的；但 Spearman 秩相关 +0.22 在 H=5 已足够还原行动序列 — 即排序-vs-回归分解的实证。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03904"/>
            <a:ext cx="77724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69664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0160" y="3803904"/>
            <a:ext cx="104241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941064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True-env 反事实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把 ensemble 整体替换成真 env.step 进 scoring loop：−1.819 % / 358 s（regime C 是 −2.001 % / 1448 s）。三个目标全面更差。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11496"/>
            <a:ext cx="77724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477256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5111496"/>
            <a:ext cx="104241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248656"/>
            <a:ext cx="10058400" cy="9601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跨县复现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东兴 76,376 地块（1.4× 璧山规模、不同形态）qualitative 一致 — 结果不是璧山过拟合。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§4 Robustness  ·  Methods §Validate / MAE / TrueEnv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跨域外推：30 ms 阈值在其他物理仿真域是 testable hypothesis，不是已证实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本文判据校准在 farmland + restoration 两个域上  ·  其他域是 conjecture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280160"/>
            <a:ext cx="11201400" cy="9144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5276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1F3A5F"/>
                </a:solidFill>
                <a:latin typeface="Microsoft YaHei"/>
                <a:ea typeface="Microsoft YaHei"/>
              </a:rPr>
              <a:t>判据已经在两个域上校准。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Microsoft YaHei"/>
                <a:ea typeface="Microsoft YaHei"/>
              </a:rPr>
              <a:t>在以下四个域，「30 ms 阈值同样适用」目前是推测，未在那些域上验证。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2316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423160"/>
            <a:ext cx="2697480" cy="36576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560320"/>
            <a:ext cx="2368296" cy="1920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水文模型驱动</a:t>
            </a:r>
          </a:p>
          <a:p>
            <a:pPr algn="l">
              <a:spcAft>
                <a:spcPts val="1000"/>
              </a:spcAft>
            </a:pPr>
            <a:r>
              <a:rPr sz="1100" b="0" i="1">
                <a:solidFill>
                  <a:srgbClr val="666666"/>
                </a:solidFill>
                <a:latin typeface="Calibri"/>
                <a:ea typeface="Microsoft YaHei"/>
              </a:rPr>
              <a:t>watershed restoration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高保真物理仿真 + 组合代价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</a:rPr>
              <a:t>推测，未验证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242316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2423160"/>
            <a:ext cx="2697480" cy="36576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560320"/>
            <a:ext cx="2368296" cy="1920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电网维护调度</a:t>
            </a:r>
          </a:p>
          <a:p>
            <a:pPr algn="l">
              <a:spcAft>
                <a:spcPts val="1000"/>
              </a:spcAft>
            </a:pPr>
            <a:r>
              <a:rPr sz="1100" b="0" i="1">
                <a:solidFill>
                  <a:srgbClr val="666666"/>
                </a:solidFill>
                <a:latin typeface="Calibri"/>
                <a:ea typeface="Microsoft YaHei"/>
              </a:rPr>
              <a:t>power-grid maintenance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潮流计算单步代价显著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</a:rPr>
              <a:t>推测，未验证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242316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7336" y="2423160"/>
            <a:ext cx="2697480" cy="36576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2560320"/>
            <a:ext cx="2368296" cy="1920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化学反应优先级</a:t>
            </a:r>
          </a:p>
          <a:p>
            <a:pPr algn="l">
              <a:spcAft>
                <a:spcPts val="1000"/>
              </a:spcAft>
            </a:pPr>
            <a:r>
              <a:rPr sz="1100" b="0" i="1">
                <a:solidFill>
                  <a:srgbClr val="666666"/>
                </a:solidFill>
                <a:latin typeface="Calibri"/>
                <a:ea typeface="Microsoft YaHei"/>
              </a:rPr>
              <a:t>multi-stage reaction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分阶段、组合状态空间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</a:rPr>
              <a:t>推测，未验证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24544" y="242316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24544" y="2423160"/>
            <a:ext cx="2697480" cy="365760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2560320"/>
            <a:ext cx="2368296" cy="1920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供应链优化</a:t>
            </a:r>
          </a:p>
          <a:p>
            <a:pPr algn="l">
              <a:spcAft>
                <a:spcPts val="1000"/>
              </a:spcAft>
            </a:pPr>
            <a:r>
              <a:rPr sz="1100" b="0" i="1">
                <a:solidFill>
                  <a:srgbClr val="666666"/>
                </a:solidFill>
                <a:latin typeface="Calibri"/>
                <a:ea typeface="Microsoft YaHei"/>
              </a:rPr>
              <a:t>economic-equilibrium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再仿真单步昂贵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</a:rPr>
              <a:t>推测，未验证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46320"/>
            <a:ext cx="11201400" cy="146304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10607040" cy="13716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措辞自律：在论文 discussion / 这次汇报中我们都用「conjecture / testable hypothesis」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不能让听众或 reviewer 觉得我们已经在 watershed / power-grid 上验证过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这条原则也是 reviewer panel 来回最敏感的点，写到 §Discussion Bounds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•  推测的价值在于给这些领域同行一个具体可证伪的实验入口，不是占领他们的地盘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§Discussion Practical implication / Bounds on the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局限：4 条本文不掩饰的边界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reviewer panel 已酸过  ·  如实陈述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280160"/>
            <a:ext cx="55321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46304" cy="2331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44752"/>
            <a:ext cx="5074920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L1  地理覆盖窄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仅两个西南山地县  ·  平原 / 非中国地权制度未测；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结构上是 within-regional-regime 的实证，不是中国全国普适。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80160"/>
            <a:ext cx="55321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280160"/>
            <a:ext cx="146304" cy="2331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44752"/>
            <a:ext cx="5074920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L2  σ_a/σ_s 只两点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两点观测：0.6 vs 5–7  ·  连续 sweep 是 open work；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无法预先解析在 ratio = 1, 2, 3 时是否仍需要 contrastive。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40"/>
            <a:ext cx="55321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49040"/>
            <a:ext cx="146304" cy="2331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13632"/>
            <a:ext cx="5074920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L3  snapshot/restore 依赖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pairwise 数据生成依赖 simulator 支持 snapshot/restore；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很多 physics-based env 不支持，replay-buffer 替代是 open。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49040"/>
            <a:ext cx="553212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749040"/>
            <a:ext cx="146304" cy="2331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913632"/>
            <a:ext cx="5074920" cy="2057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L4  跨域外推是推测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30 ms 阈值在 watershed / power-grid 等域目前是 conjecture；</a:t>
            </a:r>
          </a:p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见上一张，论文 discussion 已显式标注。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63640"/>
            <a:ext cx="11201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1">
                <a:solidFill>
                  <a:srgbClr val="1F3A5F"/>
                </a:solidFill>
                <a:latin typeface="Microsoft YaHei"/>
                <a:ea typeface="Microsoft YaHei"/>
              </a:rPr>
              <a:t>Take-home：限制写得越清楚，工作越像 applied-science；reviewer 对此正面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§Discussion Bounds on the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给打算用这套管线的实践者：换域前先报两个量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判据落地  ·  量化决策入口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188720"/>
            <a:ext cx="676656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上手前必报的两个数字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74519"/>
            <a:ext cx="5669280" cy="14630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  <a:ea typeface="Microsoft YaHei"/>
              </a:rPr>
              <a:t>σ_a / σ_s 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采样若干随机状态  ·  在每个状态枚举 K 个动作  ·  比 within-state std 与 between-state std。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≲ 1  →  加 contrastive ranking loss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≳ 5  →  MSE-only 已够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80"/>
            <a:ext cx="5669280" cy="16459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  <a:ea typeface="Microsoft YaHei"/>
              </a:rPr>
              <a:t>Simulator step cost (ms/step)  +  组合代价交互  ?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用真实仿真器跑 5 步 probe  ·  测平均单步 wall time。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≥ 30 ms 或有组合交互  →  学习代理模型 + MPC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•  &lt; 30 ms 且 reward 是 per-unit lookup  →  well-tuned SA / MILP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1188720"/>
            <a:ext cx="4251960" cy="493776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59" y="13258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选型决策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39" y="1920240"/>
            <a:ext cx="3474720" cy="457200"/>
          </a:xfrm>
          <a:prstGeom prst="rect">
            <a:avLst/>
          </a:prstGeom>
          <a:solidFill>
            <a:srgbClr val="2E6FB0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993392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step cost ≥ 30 ms 或组合交互 ?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595359" y="2377440"/>
            <a:ext cx="1005840" cy="411480"/>
          </a:xfrm>
          <a:prstGeom prst="line">
            <a:avLst/>
          </a:prstGeom>
          <a:ln w="1905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199" y="2377440"/>
            <a:ext cx="1005840" cy="411480"/>
          </a:xfrm>
          <a:prstGeom prst="line">
            <a:avLst/>
          </a:prstGeom>
          <a:ln w="1905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772399" y="27889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39" y="2862072"/>
            <a:ext cx="1645920" cy="2651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E6FB0"/>
                </a:solidFill>
                <a:latin typeface="Microsoft YaHei"/>
                <a:ea typeface="Microsoft YaHei"/>
              </a:rPr>
              <a:t>Yes → 学代理模型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39" y="278892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79" y="2862072"/>
            <a:ext cx="1645920" cy="2651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D97706"/>
                </a:solidFill>
                <a:latin typeface="Microsoft YaHei"/>
                <a:ea typeface="Microsoft YaHei"/>
              </a:rPr>
              <a:t>No → 经典 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86799" y="3200400"/>
            <a:ext cx="0" cy="228600"/>
          </a:xfrm>
          <a:prstGeom prst="line">
            <a:avLst/>
          </a:prstGeom>
          <a:ln w="1905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772399" y="3429000"/>
            <a:ext cx="3566160" cy="457200"/>
          </a:xfrm>
          <a:prstGeom prst="rect">
            <a:avLst/>
          </a:prstGeom>
          <a:solidFill>
            <a:srgbClr val="2E6FB0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39" y="3502152"/>
            <a:ext cx="3383280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σ_a / σ_s  &lt;  1 ?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595359" y="3886200"/>
            <a:ext cx="960120" cy="411480"/>
          </a:xfrm>
          <a:prstGeom prst="line">
            <a:avLst/>
          </a:prstGeom>
          <a:ln w="1905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555479" y="3886200"/>
            <a:ext cx="960120" cy="411480"/>
          </a:xfrm>
          <a:prstGeom prst="line">
            <a:avLst/>
          </a:prstGeom>
          <a:ln w="19050">
            <a:solidFill>
              <a:srgbClr val="2E6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7772399" y="42976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39" y="4370832"/>
            <a:ext cx="1645920" cy="2651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E7D32"/>
                </a:solidFill>
                <a:latin typeface="Microsoft YaHei"/>
                <a:ea typeface="Microsoft YaHei"/>
              </a:rPr>
              <a:t>Yes → +contrastive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199" y="429768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39" y="4370832"/>
            <a:ext cx="1645920" cy="2651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E7D32"/>
                </a:solidFill>
                <a:latin typeface="Microsoft YaHei"/>
                <a:ea typeface="Microsoft YaHei"/>
              </a:rPr>
              <a:t>No → MSE-only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399" y="4937760"/>
            <a:ext cx="3840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本文落点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•  Bishan farmland：Yes / Yes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    →  学代理 + contrastive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•  Buchanan restoration：No / No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333333"/>
                </a:solidFill>
                <a:latin typeface="Microsoft YaHei"/>
                <a:ea typeface="Microsoft YaHei"/>
              </a:rPr>
              <a:t>    →  classical OR / MSE-only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§Discussion Practical implication for problem selection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可复现性  ·  数据 / 代码 / 7 预设 benchmark / 70 秒 smoke test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CC-BY 4.0  ·  ghcr.io 镜像  ·  Baidu Pan offline pack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02920" y="1234440"/>
            <a:ext cx="3657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18872" cy="22402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291840" cy="1965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trained ensembles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ONNX 二进制 + 推理脚本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6666"/>
                </a:solidFill>
                <a:latin typeface="Microsoft YaHei"/>
                <a:ea typeface="Microsoft YaHei"/>
              </a:rPr>
              <a:t>蒙特卡洛 / 单 seed 任选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234440"/>
            <a:ext cx="3657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1234440"/>
            <a:ext cx="118872" cy="22402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71600"/>
            <a:ext cx="3291840" cy="1965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7 合成预设 benchmark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bishan_clone / neijiang_clone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+ 5 morphology stress test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6666"/>
                </a:solidFill>
                <a:latin typeface="Microsoft YaHei"/>
                <a:ea typeface="Microsoft YaHei"/>
              </a:rPr>
              <a:t>CC-BY 4.0  ·  确定性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55864" y="1234440"/>
            <a:ext cx="3657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55864" y="1234440"/>
            <a:ext cx="118872" cy="22402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1371600"/>
            <a:ext cx="3291840" cy="1965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Buchanan VA 案例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全 US 公开数据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6666"/>
                </a:solidFill>
                <a:latin typeface="Microsoft YaHei"/>
                <a:ea typeface="Microsoft YaHei"/>
              </a:rPr>
              <a:t>无敏感信息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93592"/>
            <a:ext cx="3657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593592"/>
            <a:ext cx="118872" cy="22402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30752"/>
            <a:ext cx="3291840" cy="1965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ArcGIS Pro Toolbox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Tools 1–5  ·  原生集成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6666"/>
                </a:solidFill>
                <a:latin typeface="Microsoft YaHei"/>
                <a:ea typeface="Microsoft YaHei"/>
              </a:rPr>
              <a:t>+ QGIS Processing 插件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3593592"/>
            <a:ext cx="3657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9392" y="3593592"/>
            <a:ext cx="118872" cy="22402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3730752"/>
            <a:ext cx="3291840" cy="1965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非商业 CLI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farmland-mpc plan ...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参数化运行 + CI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6666"/>
                </a:solidFill>
                <a:latin typeface="Microsoft YaHei"/>
                <a:ea typeface="Microsoft YaHei"/>
              </a:rPr>
              <a:t>跨平台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55864" y="3593592"/>
            <a:ext cx="36576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55864" y="3593592"/>
            <a:ext cx="118872" cy="22402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3730752"/>
            <a:ext cx="3291840" cy="19659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Microsoft YaHei"/>
                <a:ea typeface="Microsoft YaHei"/>
              </a:rPr>
              <a:t>≈ 70 秒 smoke test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完整 e2e 检查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shape / env / Spatial Analyst</a:t>
            </a:r>
          </a:p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666666"/>
                </a:solidFill>
                <a:latin typeface="Microsoft YaHei"/>
                <a:ea typeface="Microsoft YaHei"/>
              </a:rPr>
              <a:t>判断本机能不能跑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943600"/>
            <a:ext cx="11201400" cy="7772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分发通道（已上线）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3333"/>
                </a:solidFill>
                <a:latin typeface="Calibri"/>
                <a:ea typeface="Microsoft YaHei"/>
              </a:rPr>
              <a:t>•  GitHub：github.com/zhouning/arcgis-farmland-mpc    ·  Docker 镜像：ghcr.io/zhouning/arcgis-farmland-mpc    ·  Offline pack：Baidu Pan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§Code &amp; Data 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164592" cy="41148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20040"/>
            <a:ext cx="10789920" cy="5943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F3A5F"/>
                </a:solidFill>
                <a:latin typeface="Microsoft YaHei"/>
                <a:ea typeface="Microsoft YaHei"/>
              </a:rPr>
              <a:t>三个直接 follow-up：判据精化 / 跨域延展 / 部署侧扩展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66666"/>
                </a:solidFill>
                <a:latin typeface="Microsoft YaHei"/>
                <a:ea typeface="Microsoft YaHei"/>
              </a:rPr>
              <a:t>本文落幕处即下一步起点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280160"/>
            <a:ext cx="822960" cy="14173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10332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444752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σ_a/σ_s 连续 sweep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在 [0.6, 7] 连续区间补点；目标是给规划员一个 a-priori 决策曲线，而不是仅有「需要 / 不需要」二分判断。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34640"/>
            <a:ext cx="822960" cy="14173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834640"/>
            <a:ext cx="10332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999232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高 step-cost 域跨域验证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把 testable hypothesis 落到一个真实 watershed restoration 或 power-grid maintenance 案例上。30 ms 阈值是否真普适，那时候才能算证实。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822960" cy="1417320"/>
          </a:xfrm>
          <a:prstGeom prst="rect">
            <a:avLst/>
          </a:prstGeom>
          <a:solidFill>
            <a:srgbClr val="2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822960" cy="9144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389120"/>
            <a:ext cx="103327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553712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3A5F"/>
                </a:solidFill>
                <a:latin typeface="Microsoft YaHei"/>
                <a:ea typeface="Microsoft YaHei"/>
              </a:rPr>
              <a:t>部署侧：每目标排序  ·  离线规划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3333"/>
                </a:solidFill>
                <a:latin typeface="Microsoft YaHei"/>
                <a:ea typeface="Microsoft YaHei"/>
              </a:rPr>
              <a:t>per-objective ranking 让规划员把目标本身当 deployment 杠杆；offline planning 用 contrastive ensemble 做 policy-relevant horizons。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263640"/>
            <a:ext cx="11201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Microsoft YaHei"/>
                <a:ea typeface="Microsoft YaHei"/>
              </a:rPr>
              <a:t>本组开放：欢迎水文 / 电网 / 化工同事一起做跨域案例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666666"/>
                </a:solidFill>
                <a:latin typeface="Microsoft YaHei"/>
                <a:ea typeface="Microsoft YaHei"/>
              </a:rPr>
              <a:t>Source：本研究 §Discussion immediate follow-ups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666666"/>
                </a:solidFill>
                <a:latin typeface="Microsoft YaHei"/>
                <a:ea typeface="Microsoft YaHei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E6FB0"/>
                </a:solidFill>
                <a:latin typeface="Microsoft YaHei"/>
                <a:ea typeface="Microsoft YaHe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43000"/>
            <a:ext cx="10607040" cy="23774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Microsoft YaHei"/>
                <a:ea typeface="Microsoft YaHei"/>
              </a:rPr>
              <a:t>把已有方法学翔实地实证刻画 +</a:t>
            </a:r>
          </a:p>
          <a:p>
            <a:pPr algn="l">
              <a:spcAft>
                <a:spcPts val="1000"/>
              </a:spcAft>
            </a:pPr>
            <a:r>
              <a:rPr sz="2200" b="0" i="0">
                <a:solidFill>
                  <a:srgbClr val="333333"/>
                </a:solidFill>
                <a:latin typeface="Microsoft YaHei"/>
                <a:ea typeface="Microsoft YaHei"/>
              </a:rPr>
              <a:t>给一个能在县规划员桌面跑得动、能讲清楚自己什么时候不该用的工具箱。</a:t>
            </a:r>
          </a:p>
          <a:p>
            <a:pPr algn="l">
              <a:spcAft>
                <a:spcPts val="200"/>
              </a:spcAft>
            </a:pPr>
            <a:r>
              <a:rPr sz="1400" b="0" i="1">
                <a:solidFill>
                  <a:srgbClr val="666666"/>
                </a:solidFill>
                <a:latin typeface="Microsoft YaHei"/>
                <a:ea typeface="Microsoft YaHei"/>
              </a:rPr>
              <a:t>—  这不是新算法论文，是 applied-science + reproducibility 的工作。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657600"/>
            <a:ext cx="3520440" cy="1188720"/>
          </a:xfrm>
          <a:prstGeom prst="rect">
            <a:avLst/>
          </a:prstGeom>
          <a:solidFill>
            <a:srgbClr val="EAF2FB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Bishan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  <a:ea typeface="Microsoft YaHei"/>
              </a:rPr>
              <a:t>−1.289 ± 0.079%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  <a:ea typeface="Microsoft YaHei"/>
              </a:rPr>
              <a:t>1.6×  vs Centralised PPO  ·  d = −1.90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3657600"/>
            <a:ext cx="3520440" cy="1188720"/>
          </a:xfrm>
          <a:prstGeom prst="rect">
            <a:avLst/>
          </a:prstGeom>
          <a:solidFill>
            <a:srgbClr val="EAF2FB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79476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vs SA  @  180 s wall budget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  <a:ea typeface="Microsoft YaHei"/>
              </a:rPr>
              <a:t>9.6 ×  reward gap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  <a:ea typeface="Microsoft YaHei"/>
              </a:rPr>
              <a:t>86.74  vs  9.04  on Bishan farmland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3657600"/>
            <a:ext cx="3520440" cy="1188720"/>
          </a:xfrm>
          <a:prstGeom prst="rect">
            <a:avLst/>
          </a:prstGeom>
          <a:solidFill>
            <a:srgbClr val="EAF2FB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3794760"/>
            <a:ext cx="3291840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Microsoft YaHei"/>
                <a:ea typeface="Microsoft YaHei"/>
              </a:rPr>
              <a:t>Wall time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F3A5F"/>
                </a:solidFill>
                <a:latin typeface="Calibri"/>
                <a:ea typeface="Microsoft YaHei"/>
              </a:rPr>
              <a:t>≈ 100 ×  faster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Calibri"/>
                <a:ea typeface="Microsoft YaHei"/>
              </a:rPr>
              <a:t>8–12 GPU-hour  →  25 min + 7 min/方案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F3A5F"/>
                </a:solidFill>
                <a:latin typeface="Microsoft YaHei"/>
                <a:ea typeface="Microsoft YaHei"/>
              </a:rPr>
              <a:t>投稿状态  ·  Communications Earth &amp; Environment (Nature Portfolio, IF 8.9)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E6FB0"/>
                </a:solidFill>
                <a:latin typeface="Calibri"/>
                <a:ea typeface="Microsoft YaHei"/>
              </a:rPr>
              <a:t>代码 / 数据 / 镜像  ·  github.com/zhouning/arcgis-farmland-mpc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  <a:ea typeface="Microsoft YaHei"/>
              </a:rPr>
              <a:t>GitHub release tag：v7.0  ·  Docker：ghcr.io/zhouning/arcgis-farmland-mpc  ·  Offline pack：Baidu Pan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333333"/>
                </a:solidFill>
                <a:latin typeface="Microsoft YaHei"/>
                <a:ea typeface="Microsoft YaHei"/>
              </a:rPr>
              <a:t>联系  ·  周宁  ·  超图软件  ·  北京大学软件与微电子学院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44652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200"/>
              </a:spcAft>
            </a:pPr>
            <a:r>
              <a:rPr sz="1400" b="1" i="0">
                <a:solidFill>
                  <a:srgbClr val="1F3A5F"/>
                </a:solidFill>
                <a:latin typeface="Calibri"/>
                <a:ea typeface="Microsoft YaHei"/>
              </a:rPr>
              <a:t>Thank you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